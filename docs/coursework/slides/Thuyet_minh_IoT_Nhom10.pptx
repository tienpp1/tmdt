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508928f1141b8" /><Relationship Type="http://schemas.openxmlformats.org/officeDocument/2006/relationships/extended-properties" Target="/docProps/app.xml" Id="Rd33ce888221a4f9c" /><Relationship Type="http://schemas.openxmlformats.org/officeDocument/2006/relationships/officeDocument" Target="/ppt/presentation.xml" Id="R54cba1296aa342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dcd2a774d4be4"/>
  </p:sldMasterIdLst>
  <p:notesMasterIdLst>
    <p:notesMasterId xmlns:r="http://schemas.openxmlformats.org/officeDocument/2006/relationships" r:id="Rc6d69c075e974d04"/>
  </p:notesMasterIdLst>
  <p:sldIdLst>
    <p:sldId xmlns:r="http://schemas.openxmlformats.org/officeDocument/2006/relationships" id="256" r:id="R74e543d191c04639"/>
    <p:sldId xmlns:r="http://schemas.openxmlformats.org/officeDocument/2006/relationships" id="257" r:id="Rfa76b5f162de4ccc"/>
    <p:sldId xmlns:r="http://schemas.openxmlformats.org/officeDocument/2006/relationships" id="258" r:id="R6b3584c3d6ed4480"/>
    <p:sldId xmlns:r="http://schemas.openxmlformats.org/officeDocument/2006/relationships" id="259" r:id="R0b5ae0bf4275404d"/>
    <p:sldId xmlns:r="http://schemas.openxmlformats.org/officeDocument/2006/relationships" id="260" r:id="R0c978189d2714b90"/>
    <p:sldId xmlns:r="http://schemas.openxmlformats.org/officeDocument/2006/relationships" id="261" r:id="R027d0a3df10b41bd"/>
    <p:sldId xmlns:r="http://schemas.openxmlformats.org/officeDocument/2006/relationships" id="262" r:id="Rfb0b69b9976541a8"/>
    <p:sldId xmlns:r="http://schemas.openxmlformats.org/officeDocument/2006/relationships" id="263" r:id="R4c5c30ae419543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4ee1c2de040ef" /><Relationship Type="http://schemas.openxmlformats.org/officeDocument/2006/relationships/slideMaster" Target="/ppt/slideMasters/slideMaster1.xml" Id="R5e5dcd2a774d4be4" /><Relationship Type="http://schemas.openxmlformats.org/officeDocument/2006/relationships/notesMaster" Target="/ppt/notesMasters/notesMaster1.xml" Id="Rc6d69c075e974d04" /><Relationship Type="http://schemas.openxmlformats.org/officeDocument/2006/relationships/presProps" Target="/ppt/presProps.xml" Id="R5bb4c131121c4a62" /><Relationship Type="http://schemas.openxmlformats.org/officeDocument/2006/relationships/tableStyles" Target="/ppt/tableStyles.xml" Id="Ra0df7cf296b742b0" /><Relationship Type="http://schemas.openxmlformats.org/officeDocument/2006/relationships/slide" Target="/ppt/slides/slide1.xml" Id="R74e543d191c04639" /><Relationship Type="http://schemas.openxmlformats.org/officeDocument/2006/relationships/slide" Target="/ppt/slides/slide2.xml" Id="Rfa76b5f162de4ccc" /><Relationship Type="http://schemas.openxmlformats.org/officeDocument/2006/relationships/slide" Target="/ppt/slides/slide3.xml" Id="R6b3584c3d6ed4480" /><Relationship Type="http://schemas.openxmlformats.org/officeDocument/2006/relationships/slide" Target="/ppt/slides/slide4.xml" Id="R0b5ae0bf4275404d" /><Relationship Type="http://schemas.openxmlformats.org/officeDocument/2006/relationships/slide" Target="/ppt/slides/slide5.xml" Id="R0c978189d2714b90" /><Relationship Type="http://schemas.openxmlformats.org/officeDocument/2006/relationships/slide" Target="/ppt/slides/slide6.xml" Id="R027d0a3df10b41bd" /><Relationship Type="http://schemas.openxmlformats.org/officeDocument/2006/relationships/slide" Target="/ppt/slides/slide7.xml" Id="Rfb0b69b9976541a8" /><Relationship Type="http://schemas.openxmlformats.org/officeDocument/2006/relationships/slide" Target="/ppt/slides/slide8.xml" Id="R4c5c30ae419543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1513446cb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f8122ee0994724" /><Relationship Type="http://schemas.openxmlformats.org/officeDocument/2006/relationships/notesMaster" Target="/ppt/notesMasters/notesMaster1.xml" Id="Raf83e4fc75284c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b081e85c89456a" /><Relationship Type="http://schemas.openxmlformats.org/officeDocument/2006/relationships/notesMaster" Target="/ppt/notesMasters/notesMaster1.xml" Id="R6b5cdc31a4a046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82edb5bb14c8e" /><Relationship Type="http://schemas.openxmlformats.org/officeDocument/2006/relationships/notesMaster" Target="/ppt/notesMasters/notesMaster1.xml" Id="R2555fbb055a5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7811039ae488c" /><Relationship Type="http://schemas.openxmlformats.org/officeDocument/2006/relationships/notesMaster" Target="/ppt/notesMasters/notesMaster1.xml" Id="R1b77826fcbd44c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87932189b488b" /><Relationship Type="http://schemas.openxmlformats.org/officeDocument/2006/relationships/notesMaster" Target="/ppt/notesMasters/notesMaster1.xml" Id="Rf6141d5bf2ff4f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70aa521c244da" /><Relationship Type="http://schemas.openxmlformats.org/officeDocument/2006/relationships/notesMaster" Target="/ppt/notesMasters/notesMaster1.xml" Id="R2a09cf5bc19545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ee418236264726" /><Relationship Type="http://schemas.openxmlformats.org/officeDocument/2006/relationships/notesMaster" Target="/ppt/notesMasters/notesMaster1.xml" Id="R2af796cb46c0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97fea1051842cd" /><Relationship Type="http://schemas.openxmlformats.org/officeDocument/2006/relationships/notesMaster" Target="/ppt/notesMasters/notesMaster1.xml" Id="R05e8c961b7dd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  <a:p xmlns:a="http://schemas.openxmlformats.org/drawingml/2006/main">
            <a:r>
              <a:t>Kết quả kiểm thử: docs/review-2026-10-23/test-results.json và docs/test-results.md. Không đánh đồng test phần mềm với độ chính xác cảm biến.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Do_an_cuoi_ky_TMDT.docx; TH4 Bổ sung thiết kế cho đồ án cuối kỳ.docx; repository https://github.com/tienpp1/TMDT. Các số đo giả lập; phần cứng và chi phí là giả định.</a:t>
            </a:r>
          </a:p>
          <a:p xmlns:a="http://schemas.openxmlformats.org/drawingml/2006/main">
            <a:r>
              <a:t>Ảnh: docs/coursework/evidence/desktop-critical-dashboard.png; kiểm tra trình duyệt tại docs/review-2026-10-23/browser-results.json. Phân công đề xuất để nhóm xác nhận: Hà Minh Tiến backend/logic, Trương Quốc Toàn frontend, Huỳnh Nguyễn Duy Tiến kiểm thử/tài liệu. Chưa có dữ liệu thực địa.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1f3abee194f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ef27358e74c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575d84c7346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1667c895246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f720062944e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ce4629dc54a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378CF6-9A6E-4719-BB61-542AC5BE8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17FAF0-23DC-43E7-825B-AFFBB8261C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6F5DEA-9F0C-4254-97F4-72EB708C5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486D71-DB46-4CA1-8F38-0F65B3A76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C4EFB6-5B35-4761-B47D-ED9B22ED3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30290B-115E-4708-90D7-1B111DFFE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E33AD4-1E03-4A51-A514-7B1CB36B3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39D5D3-AEF0-4930-BC3E-CA866D388F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A8CFEB-C869-4971-87E0-B2C5642D8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92F4EA-DB73-49B1-85CE-5AA0F88E4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94404e4ae4a00" /><Relationship Type="http://schemas.openxmlformats.org/officeDocument/2006/relationships/slideLayout" Target="/ppt/slideLayouts/slideLayout1.xml" Id="R28850859366a40ed" /><Relationship Type="http://schemas.openxmlformats.org/officeDocument/2006/relationships/slideLayout" Target="/ppt/slideLayouts/slideLayout2.xml" Id="Rd9ae5bd3a6874c9c" /><Relationship Type="http://schemas.openxmlformats.org/officeDocument/2006/relationships/slideLayout" Target="/ppt/slideLayouts/slideLayout3.xml" Id="R2ab542c07e2e4991" /><Relationship Type="http://schemas.openxmlformats.org/officeDocument/2006/relationships/slideLayout" Target="/ppt/slideLayouts/slideLayout4.xml" Id="R7f4a07c1b6944abd" /><Relationship Type="http://schemas.openxmlformats.org/officeDocument/2006/relationships/slideLayout" Target="/ppt/slideLayouts/slideLayout5.xml" Id="Rc17817ac692d46e9" /><Relationship Type="http://schemas.openxmlformats.org/officeDocument/2006/relationships/slideLayout" Target="/ppt/slideLayouts/slideLayout6.xml" Id="R5c419b5aed3b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850859366a40ed"/>
    <p:sldLayoutId xmlns:r="http://schemas.openxmlformats.org/officeDocument/2006/relationships" id="2147483650" r:id="Rd9ae5bd3a6874c9c"/>
    <p:sldLayoutId xmlns:r="http://schemas.openxmlformats.org/officeDocument/2006/relationships" id="2147483651" r:id="R2ab542c07e2e4991"/>
    <p:sldLayoutId xmlns:r="http://schemas.openxmlformats.org/officeDocument/2006/relationships" id="2147483652" r:id="R7f4a07c1b6944abd"/>
    <p:sldLayoutId xmlns:r="http://schemas.openxmlformats.org/officeDocument/2006/relationships" id="2147483653" r:id="Rc17817ac692d46e9"/>
    <p:sldLayoutId xmlns:r="http://schemas.openxmlformats.org/officeDocument/2006/relationships" id="2147483654" r:id="R5c419b5aed3b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99a75bd834852" /><Relationship Type="http://schemas.openxmlformats.org/officeDocument/2006/relationships/notesSlide" Target="/ppt/notesSlides/notesSlide1.xml" Id="Ra4f0f1da0bc54a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15a7d9d2448a5" /><Relationship Type="http://schemas.openxmlformats.org/officeDocument/2006/relationships/notesSlide" Target="/ppt/notesSlides/notesSlide2.xml" Id="R4b0a68569bfc4a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2a6a984c446b2" /><Relationship Type="http://schemas.openxmlformats.org/officeDocument/2006/relationships/notesSlide" Target="/ppt/notesSlides/notesSlide3.xml" Id="Re398b325aef242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83ee337974207" /><Relationship Type="http://schemas.openxmlformats.org/officeDocument/2006/relationships/notesSlide" Target="/ppt/notesSlides/notesSlide4.xml" Id="Rf6b3353fd89e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0c23cd1d0440c" /><Relationship Type="http://schemas.openxmlformats.org/officeDocument/2006/relationships/notesSlide" Target="/ppt/notesSlides/notesSlide5.xml" Id="Re261f5955b7c4e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704e2dff64b02" /><Relationship Type="http://schemas.openxmlformats.org/officeDocument/2006/relationships/notesSlide" Target="/ppt/notesSlides/notesSlide6.xml" Id="Rfa5054f3264543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8f7ce2cca4cc5" /><Relationship Type="http://schemas.openxmlformats.org/officeDocument/2006/relationships/notesSlide" Target="/ppt/notesSlides/notesSlide7.xml" Id="R78061ea408ec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f9919dbb74d2d" /><Relationship Type="http://schemas.openxmlformats.org/officeDocument/2006/relationships/image" Target="/ppt/media/image.png" Id="R4fce3d42dadd450b" /><Relationship Type="http://schemas.openxmlformats.org/officeDocument/2006/relationships/notesSlide" Target="/ppt/notesSlides/notesSlide8.xml" Id="R8c3084869f414c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FE07-45B9-4CAE-B5B9-2D802EB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IoT giám sát mực nước bãi giữ 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668-CC19-4E6B-8366-5C8C08FA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A7E6-BC7C-4F40-8415-0A7E47E6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Thiết kế và mô phỏng cảnh báo ngập qua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A0BB5-00CD-4F65-A853-F5FEED70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5A78"/>
                </a:solidFill>
                <a:latin typeface="Arial"/>
                <a:ea typeface="Arial"/>
                <a:cs typeface="Arial"/>
              </a:rPr>
              <a:t>Một bãi xe  •  Ba điểm đo giả lập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91978-65E8-4583-9AD4-05584B9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Hà Minh Tiến 1250080194</a:t>
            </a:r>
          </a:p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Trương Quốc Toàn 1250080203</a:t>
            </a:r>
          </a:p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Huỳnh Nguyễn Duy Tiến 1250080195</a:t>
            </a:r>
          </a:p>
        </p:txBody>
      </p:sp>
    </p:spTree>
    <p:extLst>
      <p:ext uri="{BB962C8B-B14F-4D97-AF65-F5344CB8AC3E}">
        <p14:creationId xmlns:p14="http://schemas.microsoft.com/office/powerpoint/2010/main" val="213700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C66A8-4C84-43D6-A442-304CCA7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Người dùng và phạm vi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29B13-304C-4A3C-B72B-A29931D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89CC5-D096-4664-81AE-C7CC8491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Chủ bãi / quản lý: xem điểm vượt ngưỡng và người đã tiếp nhận.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56479-B481-46DB-840A-16D508D0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Nhân viên trực: xem dashboard, kiểm tra tại chỗ, thực hiện quy trình cơ sở.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8C3D2-2936-4678-8F81-5A7B161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Phần mềm: simulator HTTP, Node.js / Express, SQLite và website.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2881-C559-47A5-A5DD-72BEA45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Phần cứng dự kiến: siêu âm + ESP32 Wi-Fi; chưa chế tạo hoặc thử thực địa.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BF75B-3CA9-4381-B721-20F0208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5A78"/>
                </a:solidFill>
                <a:latin typeface="Arial"/>
                <a:ea typeface="Arial"/>
                <a:cs typeface="Arial"/>
              </a:rPr>
              <a:t>H = 100 cm; h = H − d; d = 10–100 cm → h = 0–90 cm (giả định thiết kế)</a:t>
            </a:r>
          </a:p>
        </p:txBody>
      </p:sp>
    </p:spTree>
    <p:extLst>
      <p:ext uri="{BB962C8B-B14F-4D97-AF65-F5344CB8AC3E}">
        <p14:creationId xmlns:p14="http://schemas.microsoft.com/office/powerpoint/2010/main" val="1379571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FE162-477E-4708-A2F4-A6373239A839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429500" y="2609850"/>
            <a:ext cx="2905125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8C307-9CF8-4790-A330-CB93B5A2C1C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7429500" y="3171825"/>
            <a:ext cx="2905125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8084B-6B6E-4ED8-A68A-57F961361F8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00750" y="317182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778D3-3020-43A2-B636-6B6C3888ABB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29500" y="26098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8AA98-A1F8-4D1B-B594-0FE3B564092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05125" y="26098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07ECE-51D7-4C05-AE22-E749B77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Kiến trúc và luồng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051A5-E664-4310-9958-A301E3E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42EA-C260-40D1-B842-AFFC515E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SIMULATOR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3 điểm / 5 giây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4225E-FF28-4D0C-9179-396B79B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EXPRESS API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Khóa, quyền, validate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C627E-628A-4BD2-BF3F-1FC2556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Readings, state, alerts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5EBF0-1E5F-44A4-980A-B850F65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859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HTTP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65301-384E-4EE7-92A6-2A438A3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LOGIC CHUNG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3 mẫu; freshness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EF19-9A7A-4D7E-84FA-64DE5C4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Poll 5 giây / SSE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8E4B9-08E7-48CD-B6FE-2B857B7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Simulator thay thiết bị; không ghi thẳng DB. Server và DB chạy cục bộ.</a:t>
            </a:r>
          </a:p>
        </p:txBody>
      </p:sp>
    </p:spTree>
    <p:extLst>
      <p:ext uri="{BB962C8B-B14F-4D97-AF65-F5344CB8AC3E}">
        <p14:creationId xmlns:p14="http://schemas.microsoft.com/office/powerpoint/2010/main" val="1939793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336F4-4C95-4CC6-B47D-B5A3B604F3D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81875" y="2833688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6FF7A-901E-4091-91E1-DF15F77CCB9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90875" y="2833688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A78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E2153-A19B-42D9-B006-4F00A3F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Máy trạng thái cảnh báo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F0DB-7952-4637-BC7C-AEF82566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F2CBB-5A40-434C-9C82-481F11C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NORMAL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Bình thường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DB6A-6515-4C1A-A1CB-381D9A0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WARNING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3 mẫu ≥10 cm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D8E40-044D-435F-9AAE-B0B856F9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19050">
            <a:solidFill>
              <a:srgbClr val="245A7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CRITICAL</a:t>
            </a:r>
          </a:p>
          <a:p xmlns:a="http://schemas.openxmlformats.org/drawingml/2006/main">
            <a:pPr>
              <a:defRPr sz="187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D42"/>
                </a:solidFill>
                <a:latin typeface="Arial"/>
                <a:ea typeface="Arial"/>
                <a:cs typeface="Arial"/>
              </a:rPr>
              <a:t>3 mẫu ≥20 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300BF-DB4E-4487-B567-3B6AAA2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Ba mẫu tươi liên tiếp ≥20 cm có thể đi thẳng normal → critical.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EC3FA-9758-4541-82E0-2FDA452B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Ba mẫu &lt;7 cm mới kết thúc đợt. Không tự hạ critical → warning.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2E255-76C8-4E8C-B8C1-A9A96E1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Ack = đã tiếp nhận; ack không đồng nghĩa nước đã rút.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25CAE-C327-4060-BC0D-8BA249B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5782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Lỗi / gap &gt;30 giây ngắt đếm; offline và stale giữ cảnh báo, hiển thị độ mới.</a:t>
            </a:r>
          </a:p>
        </p:txBody>
      </p:sp>
    </p:spTree>
    <p:extLst>
      <p:ext uri="{BB962C8B-B14F-4D97-AF65-F5344CB8AC3E}">
        <p14:creationId xmlns:p14="http://schemas.microsoft.com/office/powerpoint/2010/main" val="1117622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075D5-DE61-4F6D-BE7E-C8B13DD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Phần bổ sung TH4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BD68-B1BA-4996-A464-D3D48C3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7C6E8-6877-45BD-B22F-2D8D201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Logic cảnh báo và vận hành khi dữ liệu gián đoạn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CFE0-A79B-4E69-B7B8-17378AB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1   Ba mẫu và hysteresis 10 / 20 / 7 cm để hạn chế dao động.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F084D-3240-49C2-B1E9-A5836A83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2   Tách mức cảnh báo, chất lượng dữ liệu và xác nhận của con người.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1CE60-00C5-4497-8475-705D10A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2430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3   Mẫu cũ &gt;15 giây chỉ lịch sử; unique message_id chống retry.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58061-2998-4526-B515-330D60A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4   Gap &gt;30 giây reset đếm; manager đổi luật có version và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DE442-6C0A-47B7-9757-702323E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Hiện vật: kiến trúc, ERD, state diagram và hai Sequence Diagram.</a:t>
            </a:r>
          </a:p>
        </p:txBody>
      </p:sp>
    </p:spTree>
    <p:extLst>
      <p:ext uri="{BB962C8B-B14F-4D97-AF65-F5344CB8AC3E}">
        <p14:creationId xmlns:p14="http://schemas.microsoft.com/office/powerpoint/2010/main" val="1942592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2B29E-478D-4483-9AD9-332A447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Bảo mật và 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2D8FE-8992-426B-AF46-D258FD2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68817-5D7E-4BBD-A942-7D77EA0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Danh tính và quyền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9A8FC-1903-4204-9D67-A6C23360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Khóa riêng từng thiết bị, chỉ lưu hash.</a:t>
            </a:r>
          </a:p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Phiên đăng nhập và quyền theo cơ sở.</a:t>
            </a:r>
          </a:p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Origin-check, SameSite và HttpOnly.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587E0-0536-45A9-BCF8-9681D8B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Tính toàn vẹn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52572-E78A-429A-955E-62A17C8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Validate kiểu, miền và timestamp.</a:t>
            </a:r>
          </a:p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Chống trùng, history-only, transaction.</a:t>
            </a:r>
          </a:p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Version luật và audit thao tác.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8B99F-8164-4B38-9F6B-90D9AD2A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90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Kiểm thử phần mềm đã đạt trong lần chạy lưu tại docs/review-2026-10-23/test-results.json (Jest) và browser-results.json (10 bước Chrome headless trên DB riêng, không có lỗi JavaScript/API). Chi tiết phạm vi/kết quả xem docs/test-results.md. Chưa thử độ chính xác cảm biến hoặc điều kiện thực địa.</a:t>
            </a:r>
          </a:p>
        </p:txBody>
      </p:sp>
    </p:spTree>
    <p:extLst>
      <p:ext uri="{BB962C8B-B14F-4D97-AF65-F5344CB8AC3E}">
        <p14:creationId xmlns:p14="http://schemas.microsoft.com/office/powerpoint/2010/main" val="621541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B8BE9-7660-41BC-BDD6-2B61F585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Chi phí và cách bán đề xuất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34729-50D6-4C56-85E0-BA3204B3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F5BB-DDF1-4A0F-8BD5-CE77050DFFFC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333625"/>
              </a:tblGrid>
              <a:tr h="579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Khoản mục</a:t>
                      </a:r>
                    </a:p>
                  </a:txBody>
                  <a:tcPr marL="91440" marR="91440" marT="45720" marB="45720">
                    <a:solidFill>
                      <a:srgbClr val="245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Mỗi điểm / nghìn đồng</a:t>
                      </a:r>
                    </a:p>
                  </a:txBody>
                  <a:tcPr marL="91440" marR="91440" marT="45720" marB="45720">
                    <a:solidFill>
                      <a:srgbClr val="245A7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Cảm biến + ESP32 Wi-Fi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Nguồn + hộp và phụ kiện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Lắp đặt + dự phòng bảo hành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Tổng trực tiếp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1.200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Giá bán đề xuất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1.800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2B03-847D-4FE2-A772-2D84799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619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Gói ba điểm</a:t>
            </a:r>
          </a:p>
          <a:p xmlns:a="http://schemas.openxmlformats.org/drawingml/2006/main">
            <a: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Giá đề xuất 5,4 triệu</a:t>
            </a:r>
          </a:p>
          <a:p xmlns:a="http://schemas.openxmlformats.org/drawingml/2006/main">
            <a: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Chi phí trực tiếp 3,6 triệu</a:t>
            </a:r>
          </a:p>
          <a:p xmlns:a="http://schemas.openxmlformats.org/drawingml/2006/main">
            <a:pPr>
              <a:defRPr sz="2100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Phí web 99.000 đ/tháng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AB2C8-6C19-46B7-939A-2A437E8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0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Tất cả là giả định; chưa có báo giá hoặc khảo sát khách hàng. Chênh lệch chưa trừ phần mềm, vận hành, marketing, thuế và hỗ trợ.</a:t>
            </a:r>
          </a:p>
        </p:txBody>
      </p:sp>
    </p:spTree>
    <p:extLst>
      <p:ext uri="{BB962C8B-B14F-4D97-AF65-F5344CB8AC3E}">
        <p14:creationId xmlns:p14="http://schemas.microsoft.com/office/powerpoint/2010/main" val="900300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5765-818B-4A33-9180-E09347A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0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Demo và bước kiểm chứng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542E-0165-4FB9-A5C6-DE6C85B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627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Nhóm 10  •  Hướng 2 IoT  •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39C4-0C4F-4C37-97D5-691A7265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762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Demo: normal → warning → critical → ba mẫu phục hồi. Ack không resolve.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62127-4BB7-4479-A86D-776D66A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4762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Dừng gửi &gt;30 giây: offline. Kiểm tra mẫu cũ, lỗi và retry.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ECE5A-7DFE-4083-A49C-747D497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3850"/>
            <a:ext cx="4762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Tiếp theo: khảo sát, báo giá và thử cảm biến thật.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9B0C0-C876-470D-B6EC-ED5FA221F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e3d42dadd450b"/>
          <a:stretch xmlns:a="http://schemas.openxmlformats.org/drawingml/2006/main"/>
        </p:blipFill>
        <p:spPr>
          <a:xfrm xmlns:a="http://schemas.openxmlformats.org/drawingml/2006/main">
            <a:off x="5907578" y="1428750"/>
            <a:ext cx="5710844" cy="436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BAEF3-8831-4691-9A65-AFE9A5A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388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C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C79"/>
                </a:solidFill>
                <a:latin typeface="Arial"/>
                <a:ea typeface="Arial"/>
                <a:cs typeface="Arial"/>
              </a:rPr>
              <a:t>Ảnh prototype đang chạy với dữ liệu giả lập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F7866-AFC6-4F46-821E-5FBF9F5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5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5A78"/>
                </a:solidFill>
                <a:latin typeface="Arial"/>
                <a:ea typeface="Arial"/>
                <a:cs typeface="Arial"/>
              </a:rPr>
              <a:t>https://github.com/tienpp1/TMDT</a:t>
            </a:r>
          </a:p>
        </p:txBody>
      </p:sp>
    </p:spTree>
    <p:extLst>
      <p:ext uri="{BB962C8B-B14F-4D97-AF65-F5344CB8AC3E}">
        <p14:creationId xmlns:p14="http://schemas.microsoft.com/office/powerpoint/2010/main" val="844517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2026-10-23T00:38:34.4640000Z</dcterms:created>
  <dcterms:modified xsi:type="dcterms:W3CDTF">2026-10-23T00:38:34.4640000Z</dcterms:modified>
</coreProperties>
</file>